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0e1e9ba3e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0e1e9ba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0e1491e4b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0e1491e4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0e1491e4b_0_1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0e1491e4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0e1491e4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0e1491e4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0e1e9ba3e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0e1e9ba3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0e1e9ba3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0e1e9ba3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aracherif123/voting_rules_in_pytho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 Rules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Oluwanifemi</a:t>
            </a:r>
            <a:r>
              <a:rPr lang="en"/>
              <a:t> Olajuyigbe and Sara Saad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7150" y="4226250"/>
            <a:ext cx="43011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https://github.com/saracherif123/voting_rules_in_python</a:t>
            </a:r>
            <a:endParaRPr sz="11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273850" y="14845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5 :The problem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384825" y="1492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4" name="Google Shape;94;p14"/>
          <p:cNvSpPr txBox="1"/>
          <p:nvPr/>
        </p:nvSpPr>
        <p:spPr>
          <a:xfrm>
            <a:off x="273850" y="1943000"/>
            <a:ext cx="38370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Is it possible to elaborate an election example with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n ≥60 and m ≥8 where the winner is the same for the four voting rules Plurality, Plurality with Runoff, Condorcet Principle and Borda rules 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your example, no more than 50% of voters has the same “best candidate” and no more than 40% of voters has the same “worst candidate”..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966325" y="131742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Requirements: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- n ≥ 60 voters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- m ≥ 8 candidates  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- Same winner for: Plurality, Plurality Runoff, Condorcet, Borda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- Constraints: ≤50% same best candidate, ≤40% same worst candidate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11700" y="289275"/>
            <a:ext cx="5088000" cy="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Four Voting Methods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69625" y="1095000"/>
            <a:ext cx="77142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Plurality Voting: The candidate who gets the most first-choice votes wins, even if they don’t have a majority.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Plurality with Runoff: If no candidate has a majority, the top two go to a second round; the one with more votes in that round wins.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Condorcet Principle: The winner is the candidate who would beat every other candidate in head-to-head comparisons.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Borda Count: Voters rank all candidates; points are assigned based on rank (e.g., first place = most points), and the candidate with the highest total wins.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2" name="Google Shape;102;p15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" name="Google Shape;103;p15"/>
          <p:cNvSpPr txBox="1"/>
          <p:nvPr>
            <p:ph type="title"/>
          </p:nvPr>
        </p:nvSpPr>
        <p:spPr>
          <a:xfrm>
            <a:off x="1116650" y="3106575"/>
            <a:ext cx="2087400" cy="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Election Setup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341350" y="2938725"/>
            <a:ext cx="39867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 = 60 voters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 = 8 candidates: A, B, C, D, E, F, G, H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Constraints: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✓ Best candidate (first choice): 28/60 = 46.7% ≤ 50%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✓ Worst candidate (last choice): 22/60 = 36.7% ≤ 40%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15"/>
          <p:cNvSpPr txBox="1"/>
          <p:nvPr/>
        </p:nvSpPr>
        <p:spPr>
          <a:xfrm>
            <a:off x="3646175" y="3785475"/>
            <a:ext cx="466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2173650" y="150500"/>
            <a:ext cx="5341200" cy="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VOTER PREFERENCES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212375" y="756575"/>
            <a:ext cx="4705800" cy="4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Group 1: 15 voters (25.0%)</a:t>
            </a:r>
            <a:r>
              <a:rPr lang="en" sz="900"/>
              <a:t> </a:t>
            </a:r>
            <a:r>
              <a:rPr lang="en" sz="900"/>
              <a:t>- A for PLURALITY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 ≻ B ≻ C ≻ D ≻ E ≻ F ≻ G ≻ H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first (gives A first-place votes for Plurality)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B, C, D ranked high (helps A in Borda - A gets points from being ranked high)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H ranked last (diversifies worst candidate to satisfy ≤40% constraint)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consistently ranked first or second across groups (ensures A wins in all methods)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Group 2: 13 voters (21.7%) </a:t>
            </a:r>
            <a:r>
              <a:rPr lang="en" sz="900"/>
              <a:t>- A for PLURALITY (additional support)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 ≻ B ≻ C ≻ D ≻ E ≻ F ≻ H ≻ G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first (more first-place votes - total A first = 28 = 46.7% &lt; 50%)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B, C, D ranked high (helps A in Borda)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G ranked last (diversifies worst candidate - G = 13 voters = 21.7% &lt; 40%)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Combined with Group 1, </a:t>
            </a:r>
            <a:r>
              <a:rPr b="1" lang="en" sz="900"/>
              <a:t>A gets 28 first-place votes</a:t>
            </a:r>
            <a:r>
              <a:rPr lang="en" sz="900"/>
              <a:t> (most, but under 50% constraint)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Group 3: 15 voters (25.0%)</a:t>
            </a:r>
            <a:r>
              <a:rPr lang="en" sz="900"/>
              <a:t> - A for BORDA and CONDORCET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-------------------------------------------------------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 ≻ A ≻ C ≻ D ≻ E ≻ G ≻ H ≻ F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B first (keeps B competitive, but A still wins Plurality)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second (crucial for Borda - A gets </a:t>
            </a:r>
            <a:r>
              <a:rPr b="1" lang="en" sz="900"/>
              <a:t>6 points per voter in this group</a:t>
            </a:r>
            <a:r>
              <a:rPr lang="en" sz="900"/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beats B pairwise (for Condorcet - A is preferred over B by Groups 1, 2, 4, 5 = 45 voters)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F ranked last (diversifies worst candidate - F = 15 voters = 25% &lt; 40%)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ranked high enough</a:t>
            </a:r>
            <a:r>
              <a:rPr b="1" lang="en" sz="900"/>
              <a:t> to accumulate Borda points while still beating B in pairwise</a:t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12" name="Google Shape;112;p16"/>
          <p:cNvSpPr txBox="1"/>
          <p:nvPr/>
        </p:nvSpPr>
        <p:spPr>
          <a:xfrm>
            <a:off x="4947075" y="889775"/>
            <a:ext cx="3537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Group 4: 10 voters (16.7%) </a:t>
            </a:r>
            <a:r>
              <a:rPr lang="en" sz="900"/>
              <a:t>- A for BORDA and CONDORCET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------------------------------------------------------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 ≻ A ≻ D ≻ B ≻ F ≻ G ≻ H ≻ E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C first (some first-place support for C)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second (more Borda points for A - 6 points per voter)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beats C pairwise (for Condorcet - A preferred by Groups 1, 2, 3, 5 = 50 voters)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E ranked last (diversifies worst candidate - E = 10 voters = 16.7% &lt; 40%)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D ranked third (helps balance, but A still wins overall)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Group 5: 7 voters (11.7%)</a:t>
            </a:r>
            <a:r>
              <a:rPr lang="en" sz="900"/>
              <a:t> - A for BORDA and CONDORCET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-----------------------------------------------------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 ≻ A ≻ B ≻ C ≻ E ≻ F ≻ G ≻ H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D first (some first-place support for D)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second (more Borda points for A - 6 points per voter)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A beats D pairwise (for Condorcet - A preferred by Groups 1, 2, 3, 4 = 53 voters)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H ranked last (diversifies worst candidate - total H = 22 voters = 36.7% &lt; 40%)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• Ensures A beats all candidates in pairwise comparisons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872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r>
              <a:rPr lang="en"/>
              <a:t>(</a:t>
            </a:r>
            <a:r>
              <a:rPr lang="en"/>
              <a:t>ALL FOUR METHODS: WINNER = 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4961825" y="642175"/>
            <a:ext cx="3523500" cy="50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1. PLURALITY VOTING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-------------------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First-place votes: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A: 28 votes (46.7%) ← WINNER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B: 15 votes (25.0%)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C: 10 votes (16.7%)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D: 7 votes (11.7%)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2. PLURALITY WITH RUNOFF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-------------------------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Round 1: A (28), B (15) → advance to Round 2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Round 2: A (45), B (15) ← WINNER: A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3. CONDORCET PRINCIPLE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----------------------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Pairwise comparisons: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A vs B: 45 prefer A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A vs C: 50 prefer A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A vs D: 53 prefer A     A beats all others ← WINNER: A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4. BORDA COUNT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--------------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Borda Scores: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A: 388 points ← WINNER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B: 348 points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C: 313 points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D: 271 points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E: 150 points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F: 100 points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G: 72 points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  H: 38 points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825" y="731650"/>
            <a:ext cx="4040059" cy="41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6802800" y="4036550"/>
            <a:ext cx="15489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 All four voting methods produce the same winner: A</a:t>
            </a:r>
            <a:endParaRPr b="1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273850" y="14845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6 :The problem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5384825" y="1492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7" name="Google Shape;127;p18"/>
          <p:cNvSpPr txBox="1"/>
          <p:nvPr/>
        </p:nvSpPr>
        <p:spPr>
          <a:xfrm>
            <a:off x="273850" y="1797325"/>
            <a:ext cx="38370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Is it possible to elaborate an election example with n =  60 and </a:t>
            </a:r>
            <a:r>
              <a:rPr lang="en" sz="1200"/>
              <a:t>m =</a:t>
            </a:r>
            <a:r>
              <a:rPr lang="en" sz="1200"/>
              <a:t> 8 where the unique winner is not the same for the four voting rules Plurality, Plurality with Runoff, Condorcet Principle and Borda rules (we should have 4 different winners) ?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your example, no more than 50% of voters has the same “best candidate” and no more than 40% of voters has the same “worst candidate”.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8" name="Google Shape;128;p18"/>
          <p:cNvSpPr txBox="1"/>
          <p:nvPr>
            <p:ph idx="2" type="body"/>
          </p:nvPr>
        </p:nvSpPr>
        <p:spPr>
          <a:xfrm>
            <a:off x="4966325" y="131742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Requirements: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- n ≥ 60 voters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- m ≥ 8 candidates  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- Different winners for: Plurality, Plurality Runoff, Condorcet, Borda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- Constraints: ≤50% same best candidate, ≤40% same worst candidate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356825"/>
            <a:ext cx="3625200" cy="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Voter Preferences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311700" y="1238150"/>
            <a:ext cx="4742100" cy="3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Group 1:</a:t>
            </a:r>
            <a:r>
              <a:rPr lang="en" sz="1300"/>
              <a:t> 20 voters </a:t>
            </a:r>
            <a:r>
              <a:rPr b="1" lang="en" sz="1300"/>
              <a:t>(33.3%)</a:t>
            </a:r>
            <a:r>
              <a:rPr lang="en" sz="1300"/>
              <a:t> - A for PLURALITY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A ≻ C ≻ D ≻ E≻ F≻ B≻ G ≻ H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first (</a:t>
            </a:r>
            <a:r>
              <a:rPr lang="en" sz="1200"/>
              <a:t>m</a:t>
            </a:r>
            <a:r>
              <a:rPr lang="en" sz="1200"/>
              <a:t>ost first-place votes)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 and D ranked high (help them for Condorcet/Borda)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 ranked low (hurt B's Borda score)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ranked middle elsewhere (won't win Borda/Condorcet)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1200"/>
              <a:t> 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Group 2: </a:t>
            </a:r>
            <a:r>
              <a:rPr lang="en" sz="1300"/>
              <a:t>18 voters </a:t>
            </a:r>
            <a:r>
              <a:rPr b="1" lang="en" sz="1300"/>
              <a:t>(30%)</a:t>
            </a:r>
            <a:r>
              <a:rPr lang="en" sz="1300"/>
              <a:t> - </a:t>
            </a:r>
            <a:r>
              <a:rPr lang="en" sz="1300"/>
              <a:t>B for RUNOFF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B ≻ D ≻ E ≻ C ≻ F ≻ A ≻ H ≻ G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 first (enough to reach runoff with A)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ranked very low (so B beats A in runoff)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Rank D higher than C to help D's Borda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Google Shape;135;p19"/>
          <p:cNvSpPr txBox="1"/>
          <p:nvPr/>
        </p:nvSpPr>
        <p:spPr>
          <a:xfrm>
            <a:off x="4977925" y="1238153"/>
            <a:ext cx="38973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Group 3</a:t>
            </a:r>
            <a:r>
              <a:rPr lang="en" sz="1300"/>
              <a:t>: 12 voters </a:t>
            </a:r>
            <a:r>
              <a:rPr b="1" lang="en" sz="1300"/>
              <a:t>(20%)</a:t>
            </a:r>
            <a:r>
              <a:rPr lang="en" sz="1300"/>
              <a:t> - C for CONDORCET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C ≻ D ≻ B ≻ E ≻ G ≻ A ≻ H ≻ F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 first (some first-place support)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 second (D gets high rankings for Borda)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 before A to help for runoff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Rank C &gt; D &gt; B &gt; A (C beats all in pairwise)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200"/>
              <a:t>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Group 4</a:t>
            </a:r>
            <a:r>
              <a:rPr lang="en" sz="1300"/>
              <a:t>: 10 voters </a:t>
            </a:r>
            <a:r>
              <a:rPr b="1" lang="en" sz="1300"/>
              <a:t>(16.7%)</a:t>
            </a:r>
            <a:r>
              <a:rPr lang="en" sz="1300"/>
              <a:t> - D for BORDA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D ≻ B ≻ C ≻ F ≻ G ≻ A ≻ H ≻ E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 first (some first-place support)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 third (help Condorcet)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  <a:buSzPts val="1200"/>
              <a:buChar char="●"/>
            </a:pPr>
            <a:r>
              <a:rPr lang="en" sz="1200"/>
              <a:t>KEY: D must appear 2nd or 3rd in other groups.</a:t>
            </a:r>
            <a:endParaRPr sz="1200"/>
          </a:p>
        </p:txBody>
      </p:sp>
      <p:sp>
        <p:nvSpPr>
          <p:cNvPr id="136" name="Google Shape;136;p19"/>
          <p:cNvSpPr txBox="1"/>
          <p:nvPr/>
        </p:nvSpPr>
        <p:spPr>
          <a:xfrm>
            <a:off x="6772000" y="266225"/>
            <a:ext cx="2207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Constraints: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✓ Best candidate: 33.3% ≤ 50%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✓ Worst candidate: 33.3% ≤ 40% </a:t>
            </a:r>
            <a:endParaRPr sz="1000"/>
          </a:p>
        </p:txBody>
      </p:sp>
      <p:sp>
        <p:nvSpPr>
          <p:cNvPr id="137" name="Google Shape;137;p19"/>
          <p:cNvSpPr txBox="1"/>
          <p:nvPr/>
        </p:nvSpPr>
        <p:spPr>
          <a:xfrm>
            <a:off x="2105700" y="4540475"/>
            <a:ext cx="49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Each group strategically ranks all candidates to help specific winners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060100" y="438425"/>
            <a:ext cx="2588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 = 60 voters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 = 8 candidates: A, B, C, D, E, F, G, H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075" y="1017800"/>
            <a:ext cx="4308955" cy="38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/>
        </p:nvSpPr>
        <p:spPr>
          <a:xfrm>
            <a:off x="5681375" y="2076825"/>
            <a:ext cx="28239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Winners by Voting Rules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Plurality: A (33.3%)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Plurality with Runoff:  B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Condorcet: C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 &gt; A : 66.7%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 &gt; B : 53.3%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 &gt; D : 53.3%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Borda: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